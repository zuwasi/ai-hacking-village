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74" r:id="rId9"/>
    <p:sldId id="275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94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6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4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1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8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4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7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7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3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8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90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317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6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2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10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94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4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10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C677-EECE-C230-20FE-324AE9C1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3D49C-B8AC-58A7-F16A-E9FEC7937DC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1BEBB-91FA-06C7-69DF-E44DAE98C292}"/>
              </a:ext>
            </a:extLst>
          </p:cNvPr>
          <p:cNvSpPr/>
          <p:nvPr/>
        </p:nvSpPr>
        <p:spPr>
          <a:xfrm>
            <a:off x="335689" y="274508"/>
            <a:ext cx="8268263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GB" sz="2800" dirty="0">
                <a:latin typeface="Bahnschrift Light Condensed" panose="020B0502040204020203" pitchFamily="34" charset="0"/>
              </a:rPr>
              <a:t>Using Agentic AI to Prioritize CERT C Findings in Embedded Systems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endParaRPr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6C27B-DFF0-A7D9-BB62-E57DD1F0CD0C}"/>
              </a:ext>
            </a:extLst>
          </p:cNvPr>
          <p:cNvSpPr txBox="1"/>
          <p:nvPr/>
        </p:nvSpPr>
        <p:spPr>
          <a:xfrm>
            <a:off x="548640" y="2651760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5A94-4275-F401-B3B9-B4E7C7D68C2B}"/>
              </a:ext>
            </a:extLst>
          </p:cNvPr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2FD4EF-1FA5-15BB-3FAF-5E9914C67D7C}"/>
              </a:ext>
            </a:extLst>
          </p:cNvPr>
          <p:cNvSpPr/>
          <p:nvPr/>
        </p:nvSpPr>
        <p:spPr>
          <a:xfrm>
            <a:off x="662786" y="1987132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9FACC4-23AB-A3FE-4C52-E25D647CBECB}"/>
              </a:ext>
            </a:extLst>
          </p:cNvPr>
          <p:cNvSpPr/>
          <p:nvPr/>
        </p:nvSpPr>
        <p:spPr>
          <a:xfrm>
            <a:off x="7480897" y="109728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49EE53-2CCB-C7F3-93ED-48B9315124DB}"/>
              </a:ext>
            </a:extLst>
          </p:cNvPr>
          <p:cNvSpPr/>
          <p:nvPr/>
        </p:nvSpPr>
        <p:spPr>
          <a:xfrm>
            <a:off x="7348953" y="576072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E828C9-F9A0-28C6-083B-7475D702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55" y="1667587"/>
            <a:ext cx="2806844" cy="413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1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1014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802174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3200" dirty="0"/>
              <a:t>Using Agentic AI to Prioritize CERT C Findings in Embedded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816" y="1832514"/>
            <a:ext cx="6987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sz="2800" dirty="0"/>
              <a:t>AI Hacking Village / </a:t>
            </a:r>
            <a:r>
              <a:rPr sz="2800" dirty="0" err="1"/>
              <a:t>BSides</a:t>
            </a:r>
            <a:r>
              <a:rPr sz="2800" dirty="0"/>
              <a:t> TLV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122" y="2754504"/>
            <a:ext cx="59057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sz="2800" dirty="0"/>
              <a:t>Static analysis severity ≠ real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122" y="3451553"/>
            <a:ext cx="6495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sz="2800" dirty="0"/>
              <a:t>Agentic AI finds actual critical flaw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39922" y="1128271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25273" y="128016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7506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268263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Embedded Systems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8205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MCUs use C for determinis</a:t>
            </a:r>
            <a:r>
              <a:rPr lang="en-US" dirty="0"/>
              <a:t>m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6193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Direct HW access</a:t>
            </a:r>
            <a:r>
              <a:rPr lang="en-US" dirty="0"/>
              <a:t>, low memory foot print, speed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Safety and regulation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80897" y="109728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16459" y="5661673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32E909-73DB-27B6-F346-F8FD90CE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80" y="3168283"/>
            <a:ext cx="3514587" cy="2872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7599339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CERT C Is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Prevents undefined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Hardens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Complements MISRA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395678" y="52120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01117" y="128016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73659" y="6131696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D862DD-AF5C-81C6-75AF-063F3007D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91840"/>
            <a:ext cx="1981302" cy="520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63844F-824F-CABA-3B74-6B1E74614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72" y="3258958"/>
            <a:ext cx="2406774" cy="6731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F1040A-8355-64A3-2315-BECCCF9C6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01" y="3983677"/>
            <a:ext cx="8720553" cy="726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3137C1-9B02-0753-7D06-9F13BD92A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81" y="4807586"/>
            <a:ext cx="5704567" cy="1563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7323178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Limits of Static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694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Understands code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694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Severity is theoretical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694" y="2207927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No business/regulation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0" y="141732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71501" y="335843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59734" y="2916568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6A1775-F4A2-A7AF-6105-DFD6D628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554" y="2783513"/>
            <a:ext cx="5572317" cy="35258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249852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Severity Is Not Real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High severity may be harmless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Medium severity may be catastrophic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Tools miss real-world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0" y="11887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35145D-4376-067D-6C21-A28A2587F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74" y="3143634"/>
            <a:ext cx="5455403" cy="3074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44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391001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Agentic AI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Reads code + rules +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8387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Understands </a:t>
            </a:r>
            <a:r>
              <a:rPr lang="en-US" dirty="0"/>
              <a:t>legal and regulatory </a:t>
            </a:r>
            <a:r>
              <a:rPr sz="2000" dirty="0"/>
              <a:t>constraints</a:t>
            </a:r>
            <a:endParaRPr lang="en-US" sz="2000" dirty="0"/>
          </a:p>
          <a:p>
            <a:pPr>
              <a:defRPr sz="2400">
                <a:solidFill>
                  <a:srgbClr val="5AC8FF"/>
                </a:solidFill>
              </a:defRPr>
            </a:pPr>
            <a:r>
              <a:rPr sz="2000" dirty="0"/>
              <a:t> (≤54 H</a:t>
            </a:r>
            <a:r>
              <a:rPr lang="en-US" sz="2000" dirty="0"/>
              <a:t>oarse Power  , Road vs Race</a:t>
            </a:r>
            <a:r>
              <a:rPr sz="200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Reprioritizes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97884" y="1201301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91362" y="288036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98" name="Picture 2" descr="Motorcycle Driving licence categories and Motorcycle tests">
            <a:extLst>
              <a:ext uri="{FF2B5EF4-FFF2-40B4-BE49-F238E27FC236}">
                <a16:creationId xmlns:a16="http://schemas.microsoft.com/office/drawing/2014/main" id="{873EE00B-FF8A-D342-0B25-9DBB9F4E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22" y="3179490"/>
            <a:ext cx="3673249" cy="312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7AD2-FE4A-7BCC-FE93-A90FB7CA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4C9AF6-404B-3FA3-5FED-5543D501F20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B38388-5FEA-E63C-ADFA-07BB0CB43189}"/>
              </a:ext>
            </a:extLst>
          </p:cNvPr>
          <p:cNvSpPr/>
          <p:nvPr/>
        </p:nvSpPr>
        <p:spPr>
          <a:xfrm>
            <a:off x="274320" y="182880"/>
            <a:ext cx="7752762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9AEFA-2CEA-9790-92F0-A1CB66F99A44}"/>
              </a:ext>
            </a:extLst>
          </p:cNvPr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E377BE-EAFC-7A4B-40BC-FE61D468E921}"/>
              </a:ext>
            </a:extLst>
          </p:cNvPr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5D2AE8-0BBF-89F0-5D89-C844F6A0830F}"/>
              </a:ext>
            </a:extLst>
          </p:cNvPr>
          <p:cNvSpPr/>
          <p:nvPr/>
        </p:nvSpPr>
        <p:spPr>
          <a:xfrm>
            <a:off x="8147125" y="1193185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FC30B1-9B06-D2B8-D1FA-548D68A9415E}"/>
              </a:ext>
            </a:extLst>
          </p:cNvPr>
          <p:cNvSpPr/>
          <p:nvPr/>
        </p:nvSpPr>
        <p:spPr>
          <a:xfrm>
            <a:off x="8361544" y="59436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50" name="Picture 2" descr="No photo description available.">
            <a:extLst>
              <a:ext uri="{FF2B5EF4-FFF2-40B4-BE49-F238E27FC236}">
                <a16:creationId xmlns:a16="http://schemas.microsoft.com/office/drawing/2014/main" id="{6E9EF19D-7A5F-E72E-3A54-E3CF91AF8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47" y="1318280"/>
            <a:ext cx="6941595" cy="462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26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6DBE-B419-5CCA-DC59-4DA0C0C0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194430-FF54-C36C-3D27-2D33B945F69C}"/>
              </a:ext>
            </a:extLst>
          </p:cNvPr>
          <p:cNvSpPr/>
          <p:nvPr/>
        </p:nvSpPr>
        <p:spPr>
          <a:xfrm>
            <a:off x="-97884" y="-9144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8BF065-3F4A-9B2D-659D-5FB703EB5C93}"/>
              </a:ext>
            </a:extLst>
          </p:cNvPr>
          <p:cNvSpPr/>
          <p:nvPr/>
        </p:nvSpPr>
        <p:spPr>
          <a:xfrm>
            <a:off x="274320" y="182880"/>
            <a:ext cx="8391001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Agentic AI Is Needed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EFC5F-8A9D-EA9D-2059-0EBFB7567216}"/>
              </a:ext>
            </a:extLst>
          </p:cNvPr>
          <p:cNvSpPr txBox="1"/>
          <p:nvPr/>
        </p:nvSpPr>
        <p:spPr>
          <a:xfrm>
            <a:off x="555084" y="1113543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</a:t>
            </a:r>
            <a:r>
              <a:rPr lang="en-US" dirty="0"/>
              <a:t> Reads code + rules + docs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8F1F4-CEFC-B293-2F7E-5CB65091BC7F}"/>
              </a:ext>
            </a:extLst>
          </p:cNvPr>
          <p:cNvSpPr txBox="1"/>
          <p:nvPr/>
        </p:nvSpPr>
        <p:spPr>
          <a:xfrm>
            <a:off x="548640" y="171583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</a:t>
            </a:r>
            <a:r>
              <a:rPr lang="en-US" dirty="0"/>
              <a:t> Understands constraints (≤54 HP)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7B4DA-1BB8-2198-1726-17E71FD7FF8E}"/>
              </a:ext>
            </a:extLst>
          </p:cNvPr>
          <p:cNvSpPr txBox="1"/>
          <p:nvPr/>
        </p:nvSpPr>
        <p:spPr>
          <a:xfrm>
            <a:off x="548640" y="2252818"/>
            <a:ext cx="29065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sz="2000" dirty="0"/>
              <a:t>Reprioritizes 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167F0-B104-E4D1-A624-71F5D894C40A}"/>
              </a:ext>
            </a:extLst>
          </p:cNvPr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E418EF-F92F-784D-DA72-D76D887E2342}"/>
              </a:ext>
            </a:extLst>
          </p:cNvPr>
          <p:cNvSpPr/>
          <p:nvPr/>
        </p:nvSpPr>
        <p:spPr>
          <a:xfrm>
            <a:off x="97884" y="1201301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A828EA-1C1B-3F62-61C7-AE5054C267F8}"/>
              </a:ext>
            </a:extLst>
          </p:cNvPr>
          <p:cNvSpPr/>
          <p:nvPr/>
        </p:nvSpPr>
        <p:spPr>
          <a:xfrm>
            <a:off x="7137230" y="1678446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D48821-9904-CF24-B2C9-340A26E3653A}"/>
              </a:ext>
            </a:extLst>
          </p:cNvPr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83188481-23CC-5BDF-CEDA-995CB851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67" y="2714482"/>
            <a:ext cx="5780971" cy="359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1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1538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7752762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2282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C </a:t>
            </a:r>
            <a:r>
              <a:rPr lang="en-US" dirty="0"/>
              <a:t>program, Embedded </a:t>
            </a:r>
            <a:r>
              <a:rPr dirty="0"/>
              <a:t>ECU sim + Python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4390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lang="en-US" dirty="0"/>
              <a:t>Engine Maps </a:t>
            </a:r>
            <a:r>
              <a:rPr dirty="0"/>
              <a:t>ROAD ≤54 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48526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lang="en-US" dirty="0"/>
              <a:t>Engine Maps </a:t>
            </a:r>
            <a:r>
              <a:rPr dirty="0"/>
              <a:t>RACE 65–100 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87743" y="132588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61544" y="59436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4" name="Picture 2" descr="Tuning of VE (Fuel)">
            <a:extLst>
              <a:ext uri="{FF2B5EF4-FFF2-40B4-BE49-F238E27FC236}">
                <a16:creationId xmlns:a16="http://schemas.microsoft.com/office/drawing/2014/main" id="{A1539698-A98E-AD7C-2378-26A265FEE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319426"/>
            <a:ext cx="533400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Static Analysis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Many high-severity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69974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</a:t>
            </a:r>
            <a:r>
              <a:rPr b="1" dirty="0"/>
              <a:t>Medium-severity missing-else is true danger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A7DDDF-7D27-757D-355E-02B651A56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08" y="2432163"/>
            <a:ext cx="6562260" cy="39183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Demonstrating the Backdoor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ROAD ECU exploited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682" y="1783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rPr dirty="0"/>
              <a:t>• Malformed input bypasses VIN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7ED0C1-01DC-9F95-6C46-1349B78B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35" y="2331720"/>
            <a:ext cx="3270239" cy="40383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Missing ELSE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scanf misuse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Uninitialized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Why Static Severity Misleads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Backdoor labeled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Irrelevant highs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No domain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Agentic AI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Understands 54 HP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Analyzes program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Detects violation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AI-Generated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Validate scanf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Complete else-chain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Reject illegal 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Reprioritization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Backdoor elevated to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Noise remains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Demo 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Static → exploit → AI → fix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6" name="Oval 5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Severity ≠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AI adds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27432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780" y="76405"/>
            <a:ext cx="9144000" cy="6858000"/>
          </a:xfrm>
          <a:prstGeom prst="rect">
            <a:avLst/>
          </a:prstGeom>
          <a:gradFill rotWithShape="1">
            <a:gsLst>
              <a:gs pos="0">
                <a:srgbClr val="0F1228"/>
              </a:gs>
              <a:gs pos="100000">
                <a:srgbClr val="50142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114840" cy="914400"/>
          </a:xfrm>
          <a:prstGeom prst="rect">
            <a:avLst/>
          </a:prstGeom>
          <a:solidFill>
            <a:srgbClr val="FF4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AI finds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C8FF"/>
                </a:solidFill>
              </a:defRPr>
            </a:pPr>
            <a:r>
              <a:t>• Better prioritization = safer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E664"/>
                </a:solidFill>
              </a:defRPr>
            </a:pPr>
            <a:r>
              <a:t>Daniel Liezrowice – Agentic AI for CERT C – AI Hacking Village 2025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2755781"/>
            <a:ext cx="457200" cy="457200"/>
          </a:xfrm>
          <a:prstGeom prst="ellipse">
            <a:avLst/>
          </a:prstGeom>
          <a:solidFill>
            <a:srgbClr val="FF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50212" y="1371600"/>
            <a:ext cx="640080" cy="640080"/>
          </a:xfrm>
          <a:prstGeom prst="ellipse">
            <a:avLst/>
          </a:prstGeom>
          <a:solidFill>
            <a:srgbClr val="FFE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0" y="5486400"/>
            <a:ext cx="548640" cy="548640"/>
          </a:xfrm>
          <a:prstGeom prst="ellipse">
            <a:avLst/>
          </a:prstGeom>
          <a:solidFill>
            <a:srgbClr val="5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966</TotalTime>
  <Words>594</Words>
  <Application>Microsoft Office PowerPoint</Application>
  <PresentationFormat>On-screen Show (4:3)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Bahnschrift Light Condensed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Liezrowice</cp:lastModifiedBy>
  <cp:revision>8</cp:revision>
  <dcterms:created xsi:type="dcterms:W3CDTF">2013-01-27T09:14:16Z</dcterms:created>
  <dcterms:modified xsi:type="dcterms:W3CDTF">2025-12-07T13:35:16Z</dcterms:modified>
  <cp:category/>
</cp:coreProperties>
</file>